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590550"/>
            <a:ext cx="6477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3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3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TurbineLabelStudio</a:t>
            </a:r>
            <a:endParaRPr sz="435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485900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风机多人在线音频标注管理平台</a:t>
            </a:r>
            <a:endParaRPr sz="2100" b="0">
              <a:solidFill>
                <a:srgbClr val="6F6A6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533400" y="2400300"/>
            <a:ext cx="5334000" cy="0"/>
          </a:xfrm>
          <a:prstGeom prst="straightConnector1">
            <a:avLst/>
          </a:prstGeom>
          <a:ln w="13335">
            <a:solidFill>
              <a:srgbClr val="1F2322"/>
            </a:solidFill>
            <a:prstDash val="solid"/>
          </a:ln>
        </p:spPr>
      </p:cxnSp>
      <p:sp>
        <p:nvSpPr>
          <p:cNvPr id="4" name="矩形 3"/>
          <p:cNvSpPr>
            <a:spLocks noGrp="1"/>
          </p:cNvSpPr>
          <p:nvPr/>
        </p:nvSpPr>
        <p:spPr>
          <a:xfrm>
            <a:off x="533400" y="2800350"/>
            <a:ext cx="6286500" cy="4940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统一管理音频、图片、标注框、标签和数据集。</a:t>
            </a:r>
            <a:endParaRPr sz="2100" b="0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4750" y="1066800"/>
            <a:ext cx="3048000" cy="3048000"/>
          </a:xfrm>
          <a:prstGeom prst="rect">
            <a:avLst/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7048500" y="4324350"/>
            <a:ext cx="3810000" cy="895350"/>
          </a:xfrm>
          <a:prstGeom prst="roundRect">
            <a:avLst>
              <a:gd name="adj" fmla="val 8511"/>
            </a:avLst>
          </a:prstGeom>
          <a:solidFill>
            <a:srgbClr val="FAF8F5"/>
          </a:solidFill>
          <a:ln w="9525">
            <a:solidFill>
              <a:srgbClr val="DDD7CC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315200" y="4591050"/>
            <a:ext cx="3276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284"/>
          </a:bodyPr>
          <a:lstStyle/>
          <a:p>
            <a:pPr algn="l">
              <a:defRPr sz="16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适合介绍：平台定位、标注流程、对外数据交付</a:t>
            </a:r>
            <a:endParaRPr sz="1650" b="0">
              <a:solidFill>
                <a:srgbClr val="6F6A6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27760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r">
              <a:defRPr sz="10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050" b="0">
              <a:solidFill>
                <a:srgbClr val="6F6A6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400050"/>
            <a:ext cx="1009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为什么需要单独做这个平台</a:t>
            </a:r>
            <a:endParaRPr sz="285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533400" y="1162050"/>
            <a:ext cx="10668000" cy="0"/>
          </a:xfrm>
          <a:prstGeom prst="straightConnector1">
            <a:avLst/>
          </a:prstGeom>
          <a:ln w="13335">
            <a:solidFill>
              <a:srgbClr val="DDD7CC"/>
            </a:solidFill>
            <a:prstDash val="solid"/>
          </a:ln>
        </p:spPr>
      </p:cxnSp>
      <p:sp>
        <p:nvSpPr>
          <p:cNvPr id="3" name="矩形 2"/>
          <p:cNvSpPr>
            <a:spLocks noGrp="1"/>
          </p:cNvSpPr>
          <p:nvPr/>
        </p:nvSpPr>
        <p:spPr>
          <a:xfrm>
            <a:off x="1127760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r">
              <a:defRPr sz="10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050" b="0">
              <a:solidFill>
                <a:srgbClr val="6F6A6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1733550"/>
            <a:ext cx="3200400" cy="3143250"/>
          </a:xfrm>
          <a:prstGeom prst="roundRect">
            <a:avLst>
              <a:gd name="adj" fmla="val 2424"/>
            </a:avLst>
          </a:prstGeom>
          <a:solidFill>
            <a:srgbClr val="F4F1EC"/>
          </a:solidFill>
          <a:ln w="9525">
            <a:solidFill>
              <a:srgbClr val="DDD7C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52500" y="209550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工具缺口</a:t>
            </a:r>
            <a:endParaRPr sz="210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52500" y="2819400"/>
            <a:ext cx="26289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没有现成、免费的工具能同时处理声纹标注、音频试听和多人协作。</a:t>
            </a:r>
            <a:endParaRPr sz="1650" b="0">
              <a:solidFill>
                <a:srgbClr val="6F6A6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362450" y="1733550"/>
            <a:ext cx="3200400" cy="3143250"/>
          </a:xfrm>
          <a:prstGeom prst="roundRect">
            <a:avLst>
              <a:gd name="adj" fmla="val 2424"/>
            </a:avLst>
          </a:prstGeom>
          <a:solidFill>
            <a:srgbClr val="EEF5F1"/>
          </a:solidFill>
          <a:ln w="9525">
            <a:solidFill>
              <a:srgbClr val="DDD7CC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629150" y="209550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标注上下文缺失</a:t>
            </a:r>
            <a:endParaRPr sz="210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629150" y="2819400"/>
            <a:ext cx="26289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Mel 图只是声音可视化；最终判断仍要回到多点位音频。</a:t>
            </a:r>
            <a:endParaRPr sz="1650" b="0">
              <a:solidFill>
                <a:srgbClr val="6F6A6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039100" y="1733550"/>
            <a:ext cx="3200400" cy="3143250"/>
          </a:xfrm>
          <a:prstGeom prst="roundRect">
            <a:avLst>
              <a:gd name="adj" fmla="val 2424"/>
            </a:avLst>
          </a:prstGeom>
          <a:solidFill>
            <a:srgbClr val="F4F1EC"/>
          </a:solidFill>
          <a:ln w="9525">
            <a:solidFill>
              <a:srgbClr val="DDD7CC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305800" y="209550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428"/>
          </a:bodyPr>
          <a:lstStyle/>
          <a:p>
            <a:pPr algn="l">
              <a:defRPr sz="210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数据难管理</a:t>
            </a:r>
            <a:endParaRPr sz="210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05800" y="2819400"/>
            <a:ext cx="26289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标签、数据集、标注结果分散，想横向查看某个标签很麻烦。</a:t>
            </a:r>
            <a:endParaRPr sz="1650" b="0">
              <a:solidFill>
                <a:srgbClr val="6F6A6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542925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38664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38664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核心矛盾：图像方便画框，但声音才是底层证据。</a:t>
            </a:r>
            <a:endParaRPr sz="2100" b="1">
              <a:solidFill>
                <a:srgbClr val="38664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400050"/>
            <a:ext cx="1009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当前方案把声音作为数据底座</a:t>
            </a:r>
            <a:endParaRPr sz="285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533400" y="1162050"/>
            <a:ext cx="10668000" cy="0"/>
          </a:xfrm>
          <a:prstGeom prst="straightConnector1">
            <a:avLst/>
          </a:prstGeom>
          <a:ln w="13335">
            <a:solidFill>
              <a:srgbClr val="DDD7CC"/>
            </a:solidFill>
            <a:prstDash val="solid"/>
          </a:ln>
        </p:spPr>
      </p:cxnSp>
      <p:sp>
        <p:nvSpPr>
          <p:cNvPr id="3" name="矩形 2"/>
          <p:cNvSpPr>
            <a:spLocks noGrp="1"/>
          </p:cNvSpPr>
          <p:nvPr/>
        </p:nvSpPr>
        <p:spPr>
          <a:xfrm>
            <a:off x="1127760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r">
              <a:defRPr sz="10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050" b="0">
              <a:solidFill>
                <a:srgbClr val="6F6A6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20383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562"/>
          </a:bodyPr>
          <a:lstStyle/>
          <a:p>
            <a:pPr algn="l">
              <a:defRPr sz="210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 个 wav + 点位信息</a:t>
            </a:r>
            <a:endParaRPr sz="210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743450" y="203835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自动生成唯一 BUC</a:t>
            </a:r>
            <a:endParaRPr sz="210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82000" y="20383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BUC + func 生成图片</a:t>
            </a:r>
            <a:endParaRPr sz="210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1809750" y="3105150"/>
            <a:ext cx="7810500" cy="0"/>
          </a:xfrm>
          <a:prstGeom prst="straightConnector1">
            <a:avLst/>
          </a:prstGeom>
          <a:ln w="13335">
            <a:solidFill>
              <a:srgbClr val="1F2322"/>
            </a:solidFill>
            <a:prstDash val="solid"/>
          </a:ln>
        </p:spPr>
      </p:cxnSp>
      <p:sp>
        <p:nvSpPr>
          <p:cNvPr id="8" name="椭圆 7"/>
          <p:cNvSpPr>
            <a:spLocks noGrp="1"/>
          </p:cNvSpPr>
          <p:nvPr/>
        </p:nvSpPr>
        <p:spPr>
          <a:xfrm>
            <a:off x="1123950" y="2990850"/>
            <a:ext cx="228600" cy="228600"/>
          </a:xfrm>
          <a:prstGeom prst="ellipse">
            <a:avLst/>
          </a:prstGeom>
          <a:solidFill>
            <a:srgbClr val="1F2322"/>
          </a:solidFill>
          <a:ln w="0">
            <a:noFill/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5067300" y="2990850"/>
            <a:ext cx="228600" cy="228600"/>
          </a:xfrm>
          <a:prstGeom prst="ellipse">
            <a:avLst/>
          </a:prstGeom>
          <a:solidFill>
            <a:srgbClr val="386641"/>
          </a:solidFill>
          <a:ln w="0">
            <a:noFill/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8705850" y="2990850"/>
            <a:ext cx="228600" cy="228600"/>
          </a:xfrm>
          <a:prstGeom prst="ellipse">
            <a:avLst/>
          </a:prstGeom>
          <a:solidFill>
            <a:srgbClr val="1F2322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562100" y="3886200"/>
            <a:ext cx="838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210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图片不再单独作为最底层对象；它由音频编号和生成方法共同确定。</a:t>
            </a:r>
            <a:endParaRPr sz="2100" b="0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114550" y="462915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6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这样后续增加新的声音可视化方法，也能挂到同一套 BUC 数据之上。</a:t>
            </a:r>
            <a:endParaRPr sz="1650" b="0">
              <a:solidFill>
                <a:srgbClr val="6F6A6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400050"/>
            <a:ext cx="1009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标注页把图片、框和六路音频放在一起</a:t>
            </a:r>
            <a:endParaRPr sz="285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533400" y="1162050"/>
            <a:ext cx="10668000" cy="0"/>
          </a:xfrm>
          <a:prstGeom prst="straightConnector1">
            <a:avLst/>
          </a:prstGeom>
          <a:ln w="13335">
            <a:solidFill>
              <a:srgbClr val="DDD7CC"/>
            </a:solidFill>
            <a:prstDash val="solid"/>
          </a:ln>
        </p:spPr>
      </p:cxnSp>
      <p:sp>
        <p:nvSpPr>
          <p:cNvPr id="3" name="矩形 2"/>
          <p:cNvSpPr>
            <a:spLocks noGrp="1"/>
          </p:cNvSpPr>
          <p:nvPr/>
        </p:nvSpPr>
        <p:spPr>
          <a:xfrm>
            <a:off x="1127760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r">
              <a:defRPr sz="10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050" b="0">
              <a:solidFill>
                <a:srgbClr val="6F6A6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 t="7268" b="7268"/>
          <a:stretch>
            <a:fillRect/>
          </a:stretch>
        </p:blipFill>
        <p:spPr>
          <a:xfrm>
            <a:off x="533400" y="1524000"/>
            <a:ext cx="7162800" cy="4038600"/>
          </a:xfrm>
          <a:prstGeom prst="roundRect">
            <a:avLst>
              <a:gd name="adj" fmla="val 1887"/>
            </a:avLst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8210550" y="160020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l">
              <a:defRPr sz="22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协作能力</a:t>
            </a:r>
            <a:endParaRPr sz="225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8210550" y="2295525"/>
            <a:ext cx="76200" cy="76200"/>
          </a:xfrm>
          <a:prstGeom prst="ellipse">
            <a:avLst/>
          </a:prstGeom>
          <a:solidFill>
            <a:srgbClr val="386641"/>
          </a:solidFill>
          <a:ln w="0">
            <a:solidFill>
              <a:srgbClr val="38664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420100" y="2209800"/>
            <a:ext cx="2838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091"/>
          </a:bodyPr>
          <a:lstStyle/>
          <a:p>
            <a:pPr algn="l">
              <a:defRPr sz="165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同一个 BUC 被编辑时会锁定，避免互相覆盖。</a:t>
            </a:r>
            <a:endParaRPr sz="1650" b="0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8210550" y="3095625"/>
            <a:ext cx="76200" cy="76200"/>
          </a:xfrm>
          <a:prstGeom prst="ellipse">
            <a:avLst/>
          </a:prstGeom>
          <a:solidFill>
            <a:srgbClr val="1D6FA5"/>
          </a:solidFill>
          <a:ln w="0">
            <a:solidFill>
              <a:srgbClr val="1D6FA5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420100" y="3009900"/>
            <a:ext cx="2838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091"/>
          </a:bodyPr>
          <a:lstStyle/>
          <a:p>
            <a:pPr algn="l">
              <a:defRPr sz="165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标注框保留更新人、更新时间和标签信息。</a:t>
            </a:r>
            <a:endParaRPr sz="1650" b="0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8210550" y="3895725"/>
            <a:ext cx="76200" cy="76200"/>
          </a:xfrm>
          <a:prstGeom prst="ellipse">
            <a:avLst/>
          </a:prstGeom>
          <a:solidFill>
            <a:srgbClr val="8F6424"/>
          </a:solidFill>
          <a:ln w="0">
            <a:solidFill>
              <a:srgbClr val="8F642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420100" y="3810000"/>
            <a:ext cx="2838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091"/>
          </a:bodyPr>
          <a:lstStyle/>
          <a:p>
            <a:pPr algn="l">
              <a:defRPr sz="165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查看、筛选、编辑权限可以分开控制。</a:t>
            </a:r>
            <a:endParaRPr sz="1650" b="0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400050"/>
            <a:ext cx="1009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典型使用流程可以压成五步</a:t>
            </a:r>
            <a:endParaRPr sz="285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>
            <a:off x="533400" y="1162050"/>
            <a:ext cx="10668000" cy="0"/>
          </a:xfrm>
          <a:prstGeom prst="straightConnector1">
            <a:avLst/>
          </a:prstGeom>
          <a:ln w="13335">
            <a:solidFill>
              <a:srgbClr val="DDD7CC"/>
            </a:solidFill>
            <a:prstDash val="solid"/>
          </a:ln>
        </p:spPr>
      </p:cxnSp>
      <p:sp>
        <p:nvSpPr>
          <p:cNvPr id="3" name="矩形 2"/>
          <p:cNvSpPr>
            <a:spLocks noGrp="1"/>
          </p:cNvSpPr>
          <p:nvPr/>
        </p:nvSpPr>
        <p:spPr>
          <a:xfrm>
            <a:off x="1127760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r">
              <a:defRPr sz="10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050" b="0">
              <a:solidFill>
                <a:srgbClr val="6F6A6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52450" y="1809750"/>
            <a:ext cx="1828800" cy="2857500"/>
          </a:xfrm>
          <a:prstGeom prst="roundRect">
            <a:avLst>
              <a:gd name="adj" fmla="val 4167"/>
            </a:avLst>
          </a:prstGeom>
          <a:solidFill>
            <a:srgbClr val="F4F1EC"/>
          </a:solidFill>
          <a:ln w="9525">
            <a:solidFill>
              <a:srgbClr val="DDD7C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2038350"/>
            <a:ext cx="57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27"/>
          </a:bodyPr>
          <a:lstStyle/>
          <a:p>
            <a:pPr algn="l">
              <a:defRPr sz="31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315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89560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9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数据入库</a:t>
            </a:r>
            <a:endParaRPr sz="195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3562350"/>
            <a:ext cx="1371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音频进入 SVD</a:t>
            </a:r>
            <a:endParaRPr sz="1350" b="0">
              <a:solidFill>
                <a:srgbClr val="6F6A6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838450" y="1809750"/>
            <a:ext cx="1828800" cy="2857500"/>
          </a:xfrm>
          <a:prstGeom prst="roundRect">
            <a:avLst>
              <a:gd name="adj" fmla="val 4167"/>
            </a:avLst>
          </a:prstGeom>
          <a:solidFill>
            <a:srgbClr val="EEF5F1"/>
          </a:solidFill>
          <a:ln w="9525">
            <a:solidFill>
              <a:srgbClr val="DDD7C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067050" y="2038350"/>
            <a:ext cx="57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27"/>
          </a:bodyPr>
          <a:lstStyle/>
          <a:p>
            <a:pPr algn="l">
              <a:defRPr sz="3150" b="1">
                <a:solidFill>
                  <a:srgbClr val="38664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38664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3150" b="1">
              <a:solidFill>
                <a:srgbClr val="38664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67050" y="289560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9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 BUC</a:t>
            </a:r>
            <a:endParaRPr sz="195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067050" y="3562350"/>
            <a:ext cx="1371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绑定 6 路 wav 与点位</a:t>
            </a:r>
            <a:endParaRPr sz="1350" b="0">
              <a:solidFill>
                <a:srgbClr val="6F6A6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124450" y="1809750"/>
            <a:ext cx="1828800" cy="2857500"/>
          </a:xfrm>
          <a:prstGeom prst="roundRect">
            <a:avLst>
              <a:gd name="adj" fmla="val 4167"/>
            </a:avLst>
          </a:prstGeom>
          <a:solidFill>
            <a:srgbClr val="F4F1EC"/>
          </a:solidFill>
          <a:ln w="9525">
            <a:solidFill>
              <a:srgbClr val="DDD7C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353050" y="2038350"/>
            <a:ext cx="57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27"/>
          </a:bodyPr>
          <a:lstStyle/>
          <a:p>
            <a:pPr algn="l">
              <a:defRPr sz="31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315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353050" y="289560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9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分配任务</a:t>
            </a:r>
            <a:endParaRPr sz="195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53050" y="3562350"/>
            <a:ext cx="1371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建立或选择数据集</a:t>
            </a:r>
            <a:endParaRPr sz="1350" b="0">
              <a:solidFill>
                <a:srgbClr val="6F6A6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410450" y="1809750"/>
            <a:ext cx="1828800" cy="2857500"/>
          </a:xfrm>
          <a:prstGeom prst="roundRect">
            <a:avLst>
              <a:gd name="adj" fmla="val 4167"/>
            </a:avLst>
          </a:prstGeom>
          <a:solidFill>
            <a:srgbClr val="EEF5F1"/>
          </a:solidFill>
          <a:ln w="9525">
            <a:solidFill>
              <a:srgbClr val="DDD7C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639050" y="2038350"/>
            <a:ext cx="57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27"/>
          </a:bodyPr>
          <a:lstStyle/>
          <a:p>
            <a:pPr algn="l">
              <a:defRPr sz="3150" b="1">
                <a:solidFill>
                  <a:srgbClr val="38664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38664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3150" b="1">
              <a:solidFill>
                <a:srgbClr val="38664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39050" y="289560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9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在线标注</a:t>
            </a:r>
            <a:endParaRPr sz="195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639050" y="3562350"/>
            <a:ext cx="1371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多人协作，听音频画框</a:t>
            </a:r>
            <a:endParaRPr sz="1350" b="0">
              <a:solidFill>
                <a:srgbClr val="6F6A6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696450" y="1809750"/>
            <a:ext cx="1828800" cy="2857500"/>
          </a:xfrm>
          <a:prstGeom prst="roundRect">
            <a:avLst>
              <a:gd name="adj" fmla="val 4167"/>
            </a:avLst>
          </a:prstGeom>
          <a:solidFill>
            <a:srgbClr val="F4F1EC"/>
          </a:solidFill>
          <a:ln w="9525">
            <a:solidFill>
              <a:srgbClr val="DDD7C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925050" y="2038350"/>
            <a:ext cx="57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27"/>
          </a:bodyPr>
          <a:lstStyle/>
          <a:p>
            <a:pPr algn="l">
              <a:defRPr sz="31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</a:t>
            </a:r>
            <a:endParaRPr sz="315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925050" y="289560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9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训练导出</a:t>
            </a:r>
            <a:endParaRPr sz="195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925050" y="3562350"/>
            <a:ext cx="1371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下载 img / xml / wav</a:t>
            </a:r>
            <a:endParaRPr sz="1350" b="0">
              <a:solidFill>
                <a:srgbClr val="6F6A6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28700" y="539115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80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平台目标不是替代声音判断，而是把声音判断的上下文标准化、可追踪、可交付。</a:t>
            </a:r>
            <a:endParaRPr sz="1800" b="0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400050"/>
            <a:ext cx="1009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最终交付通过 API 变成可复用数据</a:t>
            </a:r>
            <a:endParaRPr sz="285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533400" y="1162050"/>
            <a:ext cx="10668000" cy="0"/>
          </a:xfrm>
          <a:prstGeom prst="straightConnector1">
            <a:avLst/>
          </a:prstGeom>
          <a:ln w="13335">
            <a:solidFill>
              <a:srgbClr val="DDD7CC"/>
            </a:solidFill>
            <a:prstDash val="solid"/>
          </a:ln>
        </p:spPr>
      </p:cxnSp>
      <p:sp>
        <p:nvSpPr>
          <p:cNvPr id="3" name="矩形 2"/>
          <p:cNvSpPr>
            <a:spLocks noGrp="1"/>
          </p:cNvSpPr>
          <p:nvPr/>
        </p:nvSpPr>
        <p:spPr>
          <a:xfrm>
            <a:off x="1127760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r">
              <a:defRPr sz="10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F6A6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1050" b="0">
              <a:solidFill>
                <a:srgbClr val="6F6A6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l="3166" r="3166"/>
          <a:stretch>
            <a:fillRect/>
          </a:stretch>
        </p:blipFill>
        <p:spPr>
          <a:xfrm>
            <a:off x="533400" y="1524000"/>
            <a:ext cx="5734050" cy="4038600"/>
          </a:xfrm>
          <a:prstGeom prst="roundRect">
            <a:avLst>
              <a:gd name="adj" fmla="val 1887"/>
            </a:avLst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6838950" y="16002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l">
              <a:defRPr sz="22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开放下载</a:t>
            </a:r>
            <a:endParaRPr sz="225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6838950" y="2295525"/>
            <a:ext cx="76200" cy="76200"/>
          </a:xfrm>
          <a:prstGeom prst="ellipse">
            <a:avLst/>
          </a:prstGeom>
          <a:solidFill>
            <a:srgbClr val="1D6FA5"/>
          </a:solidFill>
          <a:ln w="0">
            <a:solidFill>
              <a:srgbClr val="1D6FA5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048500" y="2209800"/>
            <a:ext cx="3886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091"/>
          </a:bodyPr>
          <a:lstStyle/>
          <a:p>
            <a:pPr algn="l">
              <a:defRPr sz="165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 BUC 下载图片、单通道音频、全部音频 ZIP。</a:t>
            </a:r>
            <a:endParaRPr sz="1650" b="0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6838950" y="3095625"/>
            <a:ext cx="76200" cy="76200"/>
          </a:xfrm>
          <a:prstGeom prst="ellipse">
            <a:avLst/>
          </a:prstGeom>
          <a:solidFill>
            <a:srgbClr val="386641"/>
          </a:solidFill>
          <a:ln w="0">
            <a:solidFill>
              <a:srgbClr val="38664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48500" y="3009900"/>
            <a:ext cx="3886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398"/>
          </a:bodyPr>
          <a:lstStyle/>
          <a:p>
            <a:pPr algn="l">
              <a:defRPr sz="165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 func 下载 JSON 或 XML 标注结果。</a:t>
            </a:r>
            <a:endParaRPr sz="1650" b="0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6838950" y="3895725"/>
            <a:ext cx="76200" cy="76200"/>
          </a:xfrm>
          <a:prstGeom prst="ellipse">
            <a:avLst/>
          </a:prstGeom>
          <a:solidFill>
            <a:srgbClr val="8F6424"/>
          </a:solidFill>
          <a:ln w="0">
            <a:solidFill>
              <a:srgbClr val="8F642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048500" y="3810000"/>
            <a:ext cx="3886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接口带鉴权，适合集成到训练脚本。</a:t>
            </a:r>
            <a:endParaRPr sz="1650" b="0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38950" y="506730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028"/>
          </a:bodyPr>
          <a:lstStyle/>
          <a:p>
            <a:pPr algn="l">
              <a:defRPr sz="180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F23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下一步：标签横向对比、双人复标质检、六路音频统一封装。</a:t>
            </a:r>
            <a:endParaRPr sz="1800" b="1">
              <a:solidFill>
                <a:srgbClr val="1F23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665</Words>
  <Application>WPS 文字</Application>
  <PresentationFormat>Converted Presentation</PresentationFormat>
  <Paragraphs>104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PingFang SC</vt:lpstr>
      <vt:lpstr>微软雅黑</vt:lpstr>
      <vt:lpstr>汉仪旗黑</vt:lpstr>
      <vt:lpstr>Arial Unicode MS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盖亚</cp:lastModifiedBy>
  <cp:revision>1</cp:revision>
  <dcterms:created xsi:type="dcterms:W3CDTF">2026-07-10T07:32:33Z</dcterms:created>
  <dcterms:modified xsi:type="dcterms:W3CDTF">2026-07-10T07:32:33Z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D8B963E90264231311A0506A7A0B4FBD_42</vt:lpwstr>
  </property>
  <property fmtid="{D5CDD505-2E9C-101B-9397-08002B2CF9AE}" pid="3" name="KSOProductBuildVer">
    <vt:lpwstr>2052-12.1.26026.26026</vt:lpwstr>
  </property>
</Properties>
</file>